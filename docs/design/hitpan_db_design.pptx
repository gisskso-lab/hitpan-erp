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474720"/>
            <a:ext cx="8823960" cy="2743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히트판 SaaS ERP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 명세서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6334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Specification  v1.0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공영정보  |  히트판 컨버전 프로젝트  | 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4297680"/>
            <a:ext cx="182880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4645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4297680"/>
            <a:ext cx="182880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4645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테이블·뷰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4297680"/>
            <a:ext cx="182880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4645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플랜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4297680"/>
            <a:ext cx="182880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03720" y="4645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수불부 유형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502920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2801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 및 프로젝트 배경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57400"/>
            <a:ext cx="502920" cy="7132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9848" y="21945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및 아키텍처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71800"/>
            <a:ext cx="502920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9848" y="31089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DB 레이어 구조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86200"/>
            <a:ext cx="502920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862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9848" y="40233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원칙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1430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143000"/>
            <a:ext cx="502920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1430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12801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수불부 최적화 전략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0574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057400"/>
            <a:ext cx="502920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574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58968" y="21945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설계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9718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971800"/>
            <a:ext cx="502920" cy="7132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718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58968" y="31089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 유연성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388620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886200"/>
            <a:ext cx="502920" cy="7132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8862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58968" y="40233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레이어별 테이블 요약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개요 및 프로젝트 배경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651760" cy="3840480"/>
          </a:xfrm>
          <a:prstGeom prst="rect">
            <a:avLst/>
          </a:prstGeom>
          <a:solidFill>
            <a:srgbClr val="FDF0EA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2651760" cy="47548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시스템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627632"/>
            <a:ext cx="243230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VB + Access DB 기반 윈도우 설치형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레거시 언어·불안정한 데이터 구조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반구독식 수익 구조 (판매 후 종료)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건당 200원 세금계산서 과금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모바일·웹 접근 불가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3840480"/>
          </a:xfrm>
          <a:prstGeom prst="rect">
            <a:avLst/>
          </a:prstGeom>
          <a:solidFill>
            <a:srgbClr val="E6F6F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51560"/>
            <a:ext cx="2651760" cy="4754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목표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7288" y="1627632"/>
            <a:ext cx="243230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C# + MariaDB SaaS 전환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반응형 웹 (PC·모바일·태블릿)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월정액 구독 수익 구조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대리점 구독 마진 자동 정산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5만 기존 고객 데이터 이관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651760" cy="3840480"/>
          </a:xfrm>
          <a:prstGeom prst="rect">
            <a:avLst/>
          </a:prstGeom>
          <a:solidFill>
            <a:srgbClr val="EEF0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051560"/>
            <a:ext cx="2651760" cy="4754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515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81928" y="1627632"/>
            <a:ext cx="2432304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기존 고객사: 5만 개사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구독 플랜: Basic/Pro/대리점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30,000원 (5유저 포함)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 50,000원 (10유저 포함)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추가 사용자: 10,000원/계정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기술 스택 및 아키텍처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265176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Blazor WebAssembly (C#)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MudBlazor UI · PWA · 반응형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097280"/>
            <a:ext cx="265176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508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 (C#)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인증 · Hangfire 배치 · EF 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97280"/>
            <a:ext cx="2651760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 10.11 LTS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로컬 설치 · Pomelo Driver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926080"/>
            <a:ext cx="265176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 + 카카오페이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빌링키 통합 · 월 자동청구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926080"/>
            <a:ext cx="265176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3375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알림톡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성공·실패·만료 알림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2926080"/>
            <a:ext cx="2651760" cy="34747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3375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홈택스 e세로 API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전자세금계산서 자동 발행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전체 DB 레이어 구조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8321040" cy="566928"/>
          </a:xfrm>
          <a:prstGeom prst="rect">
            <a:avLst/>
          </a:prstGeom>
          <a:solidFill>
            <a:srgbClr val="F4F4F2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640080" cy="56692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0607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— 집계·원장·리포트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월마감·리포트 스냅샷·대시보드·VIEW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0" y="1097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3+3VIEW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673352"/>
            <a:ext cx="8046720" cy="566928"/>
          </a:xfrm>
          <a:prstGeom prst="rect">
            <a:avLst/>
          </a:prstGeom>
          <a:solidFill>
            <a:srgbClr val="FEF6E8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673352"/>
            <a:ext cx="640080" cy="5669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7335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17282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— 회계·세금·급여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9476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전표·원장·세금계산서·급여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0" y="17647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2340864"/>
            <a:ext cx="7772400" cy="566928"/>
          </a:xfrm>
          <a:prstGeom prst="rect">
            <a:avLst/>
          </a:prstGeom>
          <a:solidFill>
            <a:srgbClr val="E8F2FD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340864"/>
            <a:ext cx="640080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34086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23957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— 재고·생산·거래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26151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BOM·작업지시·발주·매입·수주·판매·반품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0" y="24323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3008376"/>
            <a:ext cx="7498080" cy="566928"/>
          </a:xfrm>
          <a:prstGeom prst="rect">
            <a:avLst/>
          </a:prstGeom>
          <a:solidFill>
            <a:srgbClr val="FDF0EA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008376"/>
            <a:ext cx="640080" cy="5669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0083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3063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수불 원장·워크플로우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32826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stock_ledger (INSERT ONLY)·스냅샷·연결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98080" y="30998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51560" y="3675888"/>
            <a:ext cx="7223760" cy="566928"/>
          </a:xfrm>
          <a:prstGeom prst="rect">
            <a:avLst/>
          </a:prstGeom>
          <a:solidFill>
            <a:srgbClr val="E6F6F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3675888"/>
            <a:ext cx="640080" cy="56692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367588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83080" y="3730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마스터 데이터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83080" y="39502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상품·거래처·사원·창고·공통코드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98080" y="37673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188720" y="4343400"/>
            <a:ext cx="694944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4343400"/>
            <a:ext cx="640080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34340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920240" y="43982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플랫폼 기반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920240" y="4617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테넌트·구독·결제·사용자·감사로그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9808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0" y="4800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45개 테이블·뷰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핵심 설계 원칙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78992"/>
            <a:ext cx="502920" cy="11155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멀티테넌트 격리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49961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테이블에 tenant_id 컬럼. EF Core Global Query Filter 자동 적용.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07899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78992"/>
            <a:ext cx="502920" cy="11155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7899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188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ONLY 원장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49961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stock_ledger·journal_lines는 UPDATE·DELETE 금지. 취소는 역방향 INSERT.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59152"/>
            <a:ext cx="502920" cy="11155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5915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468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잔량 미저장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797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잔량은 v_stock_balance VIEW로 실시간 집계. DB 저장 없음.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35915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359152"/>
            <a:ext cx="502920" cy="11155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5915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468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 삭제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7797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is_active=0 처리. 물리 삭제 금지. 모든 이력 보존.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63931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639312"/>
            <a:ext cx="502920" cy="11155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931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749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전표 상태 관리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05993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draft→confirmed 전환 시점에만 재고·회계 원장 반영.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639312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639312"/>
            <a:ext cx="502920" cy="111556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3931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749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 유연성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5993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 없이 매입 허용 등 workflow_settings 테이블로 고객사별 설정.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수불부 최적화 전략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8가지 수불부 유형 — 모두 stock_ledger 단일 테이블에서 GROUP BY 축만 변경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109728" cy="5303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품목별 수불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7752" y="1417320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417320"/>
            <a:ext cx="109728" cy="5303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508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업체별 매입 원장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1417320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1417320"/>
            <a:ext cx="109728" cy="5303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508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업체별 매출 원장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57416" y="1417320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57416" y="1417320"/>
            <a:ext cx="109728" cy="5303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0296" y="1508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창고별 재고 현황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075688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075688"/>
            <a:ext cx="109728" cy="5303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671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 품목×업체 교차 분석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87752" y="2075688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87752" y="2075688"/>
            <a:ext cx="109728" cy="5303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21671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 담당자별 실적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72584" y="2075688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2075688"/>
            <a:ext cx="109728" cy="53035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21671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 기간별 증감 분석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57416" y="2075688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57416" y="2075688"/>
            <a:ext cx="109728" cy="5303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0296" y="21671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 조정·이상 이력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2834640"/>
            <a:ext cx="8503920" cy="2743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926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전략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310128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310128"/>
            <a:ext cx="2011680" cy="365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당월·소량 → v_stock_balance 집계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51760" y="3310128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51760" y="3310128"/>
            <a:ext cx="2011680" cy="3657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스냅샷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기간 → 100배 속도 향상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310128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310128"/>
            <a:ext cx="2011680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파티셔닝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대용량 고객사 선택 적용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3310128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3310128"/>
            <a:ext cx="2011680" cy="3657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UNION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749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스냅샷 + 당월 실시간 자동 결합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보안 설계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406908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051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빌링키 암호화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10515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앱 레벨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" y="1463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Data Protection API. DB 조회 시 암호문만 노출.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51560"/>
            <a:ext cx="406908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051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패스워드 해싱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0515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cost=12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56048" y="1463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GPU 공격 대응 수준. 평문 저장 절대 금지.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77440"/>
            <a:ext cx="4069080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라이선스 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23774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해시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 저장 금지. 검증 시 해시 비교.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377440"/>
            <a:ext cx="4069080" cy="3474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주민번호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3774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해시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6048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 저장 금지 (개인정보보호법). 일치 여부 확인만.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703320"/>
            <a:ext cx="406908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급여·계좌번호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37033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암호화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Value Converter 자동 암호화·복호화. 평문 노출 없음.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70332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703320"/>
            <a:ext cx="406908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 격리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7033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Query Filter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쿼리 자동 tenant_id 필터 + HTTP 미들웨어 이중 검증.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워크플로우 유연성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"독립 전표 + 선택적 연결" — 고객사가 업무 방식에 맞게 설정 가능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196596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 → 매입 → 재고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정석 경로 (발주서 연결)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371600"/>
            <a:ext cx="196596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9192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매입 직접 처리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9192" y="2103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 없이 바로 매입 입고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72584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371600"/>
            <a:ext cx="1965960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수주 없이 판매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2103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거래명세서 직접 발행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1371600"/>
            <a:ext cx="196596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승인필요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8856" y="1783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직접 조정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48856" y="2103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 후 조정 전표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788920"/>
            <a:ext cx="8503920" cy="2743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80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테넌트별 설정 항목 (workflow_settings 테이블)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246120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246120"/>
            <a:ext cx="914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30098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purchase.require_po — 매입 시 발주서 필수 (기본: OFF)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246120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246120"/>
            <a:ext cx="914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30098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sales.require_order — 판매 시 수주서 필수 (기본: OFF)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776472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776472"/>
            <a:ext cx="914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8313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stock.negative_stock_allow — 마이너스 재고 허용 (기본: OFF)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776472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776472"/>
            <a:ext cx="914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38313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stock.auto_journal — 재고 이동 시 회계 전표 자동생성 (기본: ON)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306824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4306824"/>
            <a:ext cx="914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" y="43616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accounting.require_approval — 전표 결재 사용 (기본: OFF)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306824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306824"/>
            <a:ext cx="9144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3616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taxinvoice.auto_publish — 거래명세서 확정 시 세금계산서 자동발행 (기본: OFF)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L1 — 플랫폼 기반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멀티테넌트·구독·결제·사용자 관리의 기반 레이어. 모든 레이어가 tenant_id로 이 레이어를 참조합니다.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고객사(테넌트) 마스터. UUID PK, 라이선스 키 해시 저장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플랜 이력. Basic/Pro/대리점, 플랜 변경 이력 보존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billing_keys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결제수단(빌링키). AES-256 암호화, 카드·계좌·토스페이·카카오페이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148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billing_invoices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4443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청구서. tenant+billing_month 복합UK로 이중 청구 방지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계정. RBAC 역할 기반 권한, bcrypt cost=12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2860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부서·조직 (자기참조 트리 구조)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2004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감사 로그. user_agent·session_id 포함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41148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4114800"/>
            <a:ext cx="914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workflow_settings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10912" y="4443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테넌트별 워크플로우 설정 (설정키·값 방식)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L2 — 마스터 데이터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상품·거래처·사원 등 기준 데이터. 모든 거래 모듈이 참조하는 마스터입니다.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9144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상품·품목 마스터. 제품/원재료/반제품/경비 유형 구분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item_prices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기간별 단가 이력. 거래처별 단가 지원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9144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거래처 마스터. 매입처/매출처/양방향, 계좌번호 암호화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14800"/>
            <a:ext cx="9144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4443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사원 마스터. 주민번호 해시, 급여·계좌 AES-256 암호화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9144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 마스터. 일반/위탁/불량/반품 창고 유형 구분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286000"/>
            <a:ext cx="9144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common_codes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코드. 시스템 공통 + 테넌트 커스텀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L3 — 수불 원장·워크플로우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수불 원장(INSERT ONLY)과 워크플로우 유연성 지원. 수불부 성능 최적화의 핵심 레이어입니다.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9144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stock_ledger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수불 원장 (INSERT ONLY). partner_id·employee_id·unit_cost·supply_amount·ym 포함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stock_monthly_snapshot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재고 스냅샷. 과거 기간 조회 100배 성능 향상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9144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document_links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전표 간 연결 관계. 발주→매입, 수주→판매 등 모든 연결 추적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14800"/>
            <a:ext cx="9144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workflow_audit_bypasses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4443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 우회 감사. 우회자·사유 전수 기록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9144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ledger_custom_views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수불부 커스텀 설정. 즐겨찾기 조회 조건 저장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L4 — 재고·생산·거래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구매·판매·생산·반품 거래 트랜잭션. 헤더-라인(1:N) 구조. 발주/수주 없이 직접 처리도 허용합니다.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9144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bom_headers/bom_items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다단계 트리 구조. 버전 관리 포함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work_orders/work_order_materials/work_order_results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작업지시·자재소요·생산실적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9144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purchase_orders/purchase_order_items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발주서. partial/closed 라인별 상태 관리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14800"/>
            <a:ext cx="9144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purchase_receipts/purchase_receipt_items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4443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매입 입고. po_id=NULL 허용(직접매입)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9144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sales_orders/sales_order_items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수주. 납기·출하 추적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286000"/>
            <a:ext cx="9144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sales_deliveries/sales_delivery_items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거래명세서. order_id=NULL 허용(직접발행)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200400"/>
            <a:ext cx="9144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returns/return_items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매입·매출 반품 통합. 원본 없이도 반품 가능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L5 — 회계·세금계산서·급여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복식부기 전표·원장·세금계산서·급여. 회계 계정과목은 세무사 검토 후 데이터를 채웁니다.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9144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account_subjects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계정과목 마스터. 시스템 기본 + 테넌트 커스텀, 계정 트리 구조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journal_entries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전표 헤더. 자동생성(매입·매출·급여)·수동입력 모두 집결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9144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journal_lines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전표 라인 (INSERT ONLY). 복식부기, 차변=대변 강제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14800"/>
            <a:ext cx="9144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tax_invoices/tax_invoice_items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4443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세금계산서. 홈택스 e세로 API 전송 상태 관리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9144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payroll_headers/payroll_details/payroll_deductions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급여. 전액 AES-256 암호화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L6 — 집계·원장·리포트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월마감·리포트 스냅샷·대시보드 설정. 실시간 조회는 VIEW, 과거 기간은 스냅샷으로 분리합니다.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91440" cy="77724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v_stock_balance (VIEW)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잔량. stock_ledger 당월 집계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91440" cy="77724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v_partner_balance (VIEW)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거래처 미수·미지급 잔액. journal_lines 집계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91440" cy="77724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v_account_balance (VIEW)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총계정원장 잔액. 계정과목별 차변·대변 합계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14800"/>
            <a:ext cx="91440" cy="77724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monthly_closing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44439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월마감 관리. 마감된 월 전표 입력 차단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91440" cy="77724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report_snapshots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700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스냅샷. 손익계산서·재무상태표 JSON 저장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286000"/>
            <a:ext cx="91440" cy="77724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dashboard_configs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위젯 설정. 역할별·개인별 저장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0"/>
            <a:ext cx="8823960" cy="36576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 완료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단계: 솔루션 구조 설계 → API 설계 → 화면 설계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L1~L6 전체 DDL SQL 파일 작성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7764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EF Core DbContext + Global Query Filter 구현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1239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Blazor 프로젝트 솔루션 구조 설계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4714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Phase 1 스프린트 계획 수립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히트판 SaaS ERP DB 설계</dc:title>
  <dc:subject>PptxGenJS Presentation</dc:subject>
  <dc:creator>PptxGenJS</dc:creator>
  <cp:lastModifiedBy>PptxGenJS</cp:lastModifiedBy>
  <cp:revision>1</cp:revision>
  <dcterms:created xsi:type="dcterms:W3CDTF">2026-04-09T06:15:56Z</dcterms:created>
  <dcterms:modified xsi:type="dcterms:W3CDTF">2026-04-09T06:15:56Z</dcterms:modified>
</cp:coreProperties>
</file>